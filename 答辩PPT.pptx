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</p:sldIdLst>
  <p:sldSz cx="12192000" cy="6858000"/>
  <p:notesSz cx="6858000" cy="12192000"/>
  <p:embeddedFontLs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tags" Target="../tags/tag1.xml"/><Relationship Id="rId6" Type="http://schemas.openxmlformats.org/officeDocument/2006/relationships/tags" Target="../tags/tag2.xml"/><Relationship Id="rId7" Type="http://schemas.openxmlformats.org/officeDocument/2006/relationships/tags" Target="../tags/tag3.xml"/><Relationship Id="rId8" Type="http://schemas.openxmlformats.org/officeDocument/2006/relationships/tags" Target="../tags/tag4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Relationship Id="rId11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5.xml"/><Relationship Id="rId3" Type="http://schemas.openxmlformats.org/officeDocument/2006/relationships/image" Target="../media/image7.png"/><Relationship Id="rId4" Type="http://schemas.openxmlformats.org/officeDocument/2006/relationships/tags" Target="../tags/tag6.xml"/><Relationship Id="rId5" Type="http://schemas.openxmlformats.org/officeDocument/2006/relationships/image" Target="../media/image8.png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10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tags" Target="../tags/tag9.xml"/><Relationship Id="rId6" Type="http://schemas.openxmlformats.org/officeDocument/2006/relationships/tags" Target="../tags/tag10.xml"/><Relationship Id="rId7" Type="http://schemas.openxmlformats.org/officeDocument/2006/relationships/tags" Target="../tags/tag11.xml"/><Relationship Id="rId8" Type="http://schemas.openxmlformats.org/officeDocument/2006/relationships/tags" Target="../tags/tag12.xml"/><Relationship Id="rId9" Type="http://schemas.openxmlformats.org/officeDocument/2006/relationships/tags" Target="../tags/tag13.xml"/><Relationship Id="rId10" Type="http://schemas.openxmlformats.org/officeDocument/2006/relationships/tags" Target="../tags/tag14.xml"/><Relationship Id="rId11" Type="http://schemas.openxmlformats.org/officeDocument/2006/relationships/tags" Target="../tags/tag15.xml"/><Relationship Id="rId12" Type="http://schemas.openxmlformats.org/officeDocument/2006/relationships/tags" Target="../tags/tag16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jpeg"/><Relationship Id="rId3" Type="http://schemas.openxmlformats.org/officeDocument/2006/relationships/image" Target="../media/image4.png"/><Relationship Id="rId4" Type="http://schemas.openxmlformats.org/officeDocument/2006/relationships/image" Target="../media/image3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40.jpg"/>
          <p:cNvPicPr>
            <a:picLocks noChangeAspect="1"/>
          </p:cNvPicPr>
          <p:nvPr/>
        </p:nvPicPr>
        <p:blipFill>
          <a:blip r:embed="rId2"/>
          <a:srcRect t="83" b="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707515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t>数学建模课程大作业</a:t>
            </a:r>
            <a:endParaRPr lang="zh-CN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240270" y="6099810"/>
            <a:ext cx="309181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t>2025-2026 学年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17220" y="2134235"/>
            <a:ext cx="7715885" cy="1527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  <a:defRPr sz="3800" b="1">
                <a:solidFill>
                  <a:srgbClr val="0D0D0D"/>
                </a:solidFill>
              </a:defRPr>
            </a:pPr>
            <a:r>
              <a:t>基于稳健 Hausdorff 距离与</a:t>
            </a:r>
            <a:br/>
            <a:r>
              <a:t>多特征融合的音乐旋律线几何建模</a:t>
            </a:r>
            <a:endParaRPr lang="en-US" sz="1600" dirty="0"/>
          </a:p>
        </p:txBody>
      </p:sp>
      <p:pic>
        <p:nvPicPr>
          <p:cNvPr id="12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5210" y="2010410"/>
            <a:ext cx="2663190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5220" y="198882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59749" y="59762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459749" y="60732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59749" y="61701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9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0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4485" y="5488305"/>
            <a:ext cx="2170430" cy="5689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604932" y="88045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4747260" y="1640840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655310" y="1835785"/>
            <a:ext cx="6013450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困局与破局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47260" y="2400935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655310" y="2599055"/>
            <a:ext cx="6014085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  <a:defRPr sz="1800">
                <a:solidFill>
                  <a:srgbClr val="0D0D0D"/>
                </a:solidFill>
              </a:defRPr>
            </a:pPr>
            <a:r>
              <a:t>Hausdorff 距离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747260" y="3207385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655310" y="3385820"/>
            <a:ext cx="6014085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智能体推理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747260" y="4014470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655310" y="4184015"/>
            <a:ext cx="6014720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物理约束训练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747260" y="4791710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655310" y="4989830"/>
            <a:ext cx="6012815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价值与展望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困局与破局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1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2185670"/>
            <a:ext cx="11015345" cy="319278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318375" y="1027430"/>
            <a:ext cx="3193415" cy="55092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defRPr sz="3200" b="1">
                <a:solidFill>
                  <a:srgbClr val="0D0D0D"/>
                </a:solidFill>
              </a:defRPr>
            </a:pPr>
            <a:r>
              <a:t>MIDI 文件格式与旋律提取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9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1" name="Text 5"/>
          <p:cNvSpPr/>
          <p:nvPr>
            <p:custDataLst>
              <p:tags r:id="rId5"/>
            </p:custDataLst>
          </p:nvPr>
        </p:nvSpPr>
        <p:spPr>
          <a:xfrm>
            <a:off x="1456055" y="2282190"/>
            <a:ext cx="426656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语义与物理割裂，长视频推理被动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6"/>
            </p:custDataLst>
          </p:nvPr>
        </p:nvSpPr>
        <p:spPr>
          <a:xfrm>
            <a:off x="1456055" y="2667635"/>
            <a:ext cx="3596640" cy="2962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t>Skyline 提取：同一时刻有多个音符时（和弦），只保留音高最高的那个作为主旋律近似。</a:t>
            </a:r>
            <a:br/>
            <a:r>
              <a:t>时间重采样：首末音对齐到 [0,1]，均匀取 N 个点。</a:t>
            </a:r>
            <a:br/>
            <a:r>
              <a:t>三维旋律点：时间 t、音高（减中位数→移调不变）、力度（加权 wv）。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它们可以描述“发生了什么”，却不擅长判断“怎么动、何时动、向哪动”。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在长视频场景中，全量帧输入会带来上下文冗余和计算压力，关键运动片段反而容易被淹没。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更重要的是，模型通常是一次性生成答案，缺少对模糊片段进行回看和验证的能力。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7"/>
          <p:cNvSpPr/>
          <p:nvPr>
            <p:custDataLst>
              <p:tags r:id="rId7"/>
            </p:custDataLst>
          </p:nvPr>
        </p:nvSpPr>
        <p:spPr>
          <a:xfrm>
            <a:off x="7007860" y="2324100"/>
            <a:ext cx="3860165" cy="3435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典型场景：体育碰撞判定困境</a:t>
            </a:r>
            <a:endParaRPr lang="en-US" sz="1600" dirty="0"/>
          </a:p>
        </p:txBody>
      </p:sp>
      <p:sp>
        <p:nvSpPr>
          <p:cNvPr id="14" name="Text 8"/>
          <p:cNvSpPr/>
          <p:nvPr>
            <p:custDataLst>
              <p:tags r:id="rId8"/>
            </p:custDataLst>
          </p:nvPr>
        </p:nvSpPr>
        <p:spPr>
          <a:xfrm>
            <a:off x="7007860" y="2704465"/>
            <a:ext cx="3596640" cy="2765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Skyline 提取：同一时刻有多个音符时（和弦），只保留音高最高的那个作为主旋律近似。</a:t>
            </a:r>
            <a:br/>
            <a:r>
              <a:t>时间重采样：首末音对齐到 [0,1]，均匀取 N 个点。</a:t>
            </a:r>
            <a:br/>
            <a:r>
              <a:t>三维旋律点：时间 t、音高（减中位数→移调不变）、力度（加权 wv）。</a:t>
            </a:r>
            <a:endParaRPr lang="zh-CN" altLang="en-US" sz="1600" dirty="0"/>
          </a:p>
        </p:txBody>
      </p:sp>
      <p:pic>
        <p:nvPicPr>
          <p:cNvPr id="15" name="Picture 14" descr="example_curves_c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4754880"/>
            <a:ext cx="10515600" cy="621376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298" y="65786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"观-思-答"循环：从被动回答到主动推理</a:t>
            </a:r>
            <a:endParaRPr lang="en-US" sz="36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3" name="Image 0" descr="https://kimi-img.moonshot.cn/pub/slides/slides_tmpl/image/25-10-09-16:35:25-d3jn7j8s8jdo4os5dj2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275" r="275"/>
          <a:stretch>
            <a:fillRect/>
          </a:stretch>
        </p:blipFill>
        <p:spPr>
          <a:xfrm>
            <a:off x="679450" y="725805"/>
            <a:ext cx="688340" cy="69151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09-16:35:25-d3jn7j8s8jdo4os5dj3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5285" y="908050"/>
            <a:ext cx="1288415" cy="330200"/>
          </a:xfrm>
          <a:prstGeom prst="rect">
            <a:avLst/>
          </a:prstGeom>
        </p:spPr>
      </p:pic>
      <p:sp>
        <p:nvSpPr>
          <p:cNvPr id="11" name="Text 3"/>
          <p:cNvSpPr/>
          <p:nvPr>
            <p:custDataLst>
              <p:tags r:id="rId6"/>
            </p:custDataLst>
          </p:nvPr>
        </p:nvSpPr>
        <p:spPr>
          <a:xfrm>
            <a:off x="1592580" y="2386330"/>
            <a:ext cx="9007475" cy="2647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t>问题：数据集中同一首歌有多个版本（不同文件名、不同编曲），</a:t>
            </a:r>
            <a:br/>
            <a:r>
              <a:t>若分别进入训练集和测试集，会虚高分类精度。</a:t>
            </a:r>
            <a:br/>
            <a:br/>
            <a:r>
              <a:t>三重指纹去重：① 规范化曲名（去 live/remaster 后缀）</a:t>
            </a:r>
            <a:br/>
            <a:r>
              <a:t>② SHA-256 字节哈希 ③ 旋律指纹（移调不变的 skyline 哈希）</a:t>
            </a:r>
            <a:br/>
            <a:br/>
            <a:r>
              <a:t>跨曲风冲突组整组剔除，排除 75 组 187 文件。</a:t>
            </a:r>
            <a:br/>
            <a:r>
              <a:t>最终：五类各 100 首，共 500 首独立作品。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为此，我们把视频理解拆成三个步骤：先看关键运动，再做推理判断，最后输出带证据的答案。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整个系统分为两阶段训练：SFT 阶段让模型学习 FlowAdapter 的光流特征提取与推理格式；GRPO 阶段通过多维奖励（准确率+格式+物理一致性）优化推理质量。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这就形成了一个更接近人类观看视频的“观-思-答”过程。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7"/>
          <p:cNvSpPr/>
          <p:nvPr>
            <p:custDataLst>
              <p:tags r:id="rId7"/>
            </p:custDataLst>
          </p:nvPr>
        </p:nvSpPr>
        <p:spPr>
          <a:xfrm>
            <a:off x="9433560" y="21456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16" name="Picture 15" descr="data_funnel_c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1371600"/>
            <a:ext cx="5486400" cy="28564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defRPr sz="2800">
                <a:solidFill>
                  <a:srgbClr val="0D0D0D"/>
                </a:solidFill>
              </a:defRPr>
            </a:pPr>
            <a:r>
              <a:t>Hausdorff 距离及其变体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1757045"/>
            <a:ext cx="12192000" cy="428688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031990" y="885190"/>
            <a:ext cx="4288155" cy="60312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defRPr sz="2800" b="1">
                <a:solidFill>
                  <a:srgbClr val="0D0D0D"/>
                </a:solidFill>
              </a:defRPr>
            </a:pPr>
            <a:r>
              <a:t>Hausdorff 距离定义与变体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  <p:sp>
        <p:nvSpPr>
          <p:cNvPr id="7" name="Text 1"/>
          <p:cNvSpPr/>
          <p:nvPr>
            <p:custDataLst>
              <p:tags r:id="rId5"/>
            </p:custDataLst>
          </p:nvPr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输入层：接收原始视频与问题</a:t>
            </a:r>
            <a:endParaRPr lang="en-US" sz="1600" dirty="0"/>
          </a:p>
        </p:txBody>
      </p:sp>
      <p:sp>
        <p:nvSpPr>
          <p:cNvPr id="8" name="Text 2"/>
          <p:cNvSpPr/>
          <p:nvPr>
            <p:custDataLst>
              <p:tags r:id="rId6"/>
            </p:custDataLst>
          </p:nvPr>
        </p:nvSpPr>
        <p:spPr>
          <a:xfrm>
            <a:off x="581660" y="2487930"/>
            <a:ext cx="5175885" cy="148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有向 Hausdorff：h(A,B) = max min ||a-b||</a:t>
            </a:r>
            <a:br/>
            <a:r>
              <a:t>A 的每个点找 B 里最近的点 → 取最大值</a:t>
            </a:r>
            <a:endParaRPr lang="en-US" sz="1600" dirty="0"/>
          </a:p>
        </p:txBody>
      </p:sp>
      <p:sp>
        <p:nvSpPr>
          <p:cNvPr id="9" name="Text 3"/>
          <p:cNvSpPr/>
          <p:nvPr>
            <p:custDataLst>
              <p:tags r:id="rId7"/>
            </p:custDataLst>
          </p:nvPr>
        </p:nvSpPr>
        <p:spPr>
          <a:xfrm>
            <a:off x="581660" y="4140835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t>双向 Hausdorff：H(A,B) = max{ h(A,B), h(B,A) }</a:t>
            </a:r>
            <a:br/>
            <a:r>
              <a:t>两个方向各算一次 → 值越大 = 曲线越不相似</a:t>
            </a:r>
            <a:endParaRPr lang="en-US" sz="1600" dirty="0"/>
          </a:p>
        </p:txBody>
      </p:sp>
      <p:sp>
        <p:nvSpPr>
          <p:cNvPr id="10" name="Text 4"/>
          <p:cNvSpPr/>
          <p:nvPr>
            <p:custDataLst>
              <p:tags r:id="rId8"/>
            </p:custDataLst>
          </p:nvPr>
        </p:nvSpPr>
        <p:spPr>
          <a:xfrm>
            <a:off x="581660" y="4496435"/>
            <a:ext cx="517588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max-HD：取最近距离的最大值 → 最坏点主导</a:t>
            </a:r>
            <a:br/>
            <a:r>
              <a:t>Q95-HD：取 95% 分位数 → 去掉极端 5%</a:t>
            </a:r>
            <a:br/>
            <a:r>
              <a:t>MHD：取平均值 → 最稳健，论文主模型</a:t>
            </a:r>
            <a:endParaRPr lang="zh-CN" altLang="en-US" sz="1600" dirty="0"/>
          </a:p>
        </p:txBody>
      </p:sp>
      <p:sp>
        <p:nvSpPr>
          <p:cNvPr id="11" name="Text 5"/>
          <p:cNvSpPr/>
          <p:nvPr>
            <p:custDataLst>
              <p:tags r:id="rId9"/>
            </p:custDataLst>
          </p:nvPr>
        </p:nvSpPr>
        <p:spPr>
          <a:xfrm>
            <a:off x="6533515" y="2120900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t>KD-tree 加速：O(mn) → O(m log n)</a:t>
            </a:r>
            <a:br/>
            <a:r>
              <a:t>同一首歌约 48 个采样点 vs 500 首 → 需高效计算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10"/>
            </p:custDataLst>
          </p:nvPr>
        </p:nvSpPr>
        <p:spPr>
          <a:xfrm>
            <a:off x="6533515" y="2487930"/>
            <a:ext cx="5176520" cy="14839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微调后的模型承担观察、思考、决策与回答的核心职能。</a:t>
            </a:r>
            <a:endParaRPr lang="en-US" sz="1600" dirty="0"/>
          </a:p>
        </p:txBody>
      </p:sp>
      <p:sp>
        <p:nvSpPr>
          <p:cNvPr id="13" name="Text 7"/>
          <p:cNvSpPr/>
          <p:nvPr>
            <p:custDataLst>
              <p:tags r:id="rId11"/>
            </p:custDataLst>
          </p:nvPr>
        </p:nvSpPr>
        <p:spPr>
          <a:xfrm>
            <a:off x="6533515" y="4140835"/>
            <a:ext cx="5175250" cy="4025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训练层：两阶段微调策略</a:t>
            </a:r>
            <a:endParaRPr lang="en-US" sz="1600" dirty="0"/>
          </a:p>
        </p:txBody>
      </p:sp>
      <p:sp>
        <p:nvSpPr>
          <p:cNvPr id="14" name="Text 8"/>
          <p:cNvSpPr/>
          <p:nvPr>
            <p:custDataLst>
              <p:tags r:id="rId12"/>
            </p:custDataLst>
          </p:nvPr>
        </p:nvSpPr>
        <p:spPr>
          <a:xfrm>
            <a:off x="6533515" y="4496435"/>
            <a:ext cx="5176520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SFT 阶段让模型学会基础推理格式，GRPO 阶段通过多维奖励优化推理质量与物理一致性。</a:t>
            </a:r>
            <a:endParaRPr lang="zh-CN" alt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智能体推理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1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830" y="7531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0D0D0D"/>
                </a:solidFill>
              </a:defRPr>
            </a:pPr>
            <a:r>
              <a:t>模型体系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31770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defRPr sz="2000" b="1"/>
            </a:pPr>
            <a:r>
              <a:t>几何距离模型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71830" y="3256280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t>多参数 MHD + K-NN（主几何模型）</a:t>
            </a:r>
            <a:br/>
            <a:r>
              <a:t>相位对齐 RMSE（严格逐点对应）</a:t>
            </a:r>
            <a:br/>
            <a:r>
              <a:t>多变量 DTW（允许时间伸缩对齐）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29348" y="3678555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多参数 MHD + K-NN（主几何模型）</a:t>
            </a:r>
            <a:br/>
            <a:r>
              <a:t>相位对齐 RMSE（严格逐点对应）</a:t>
            </a:r>
            <a:br/>
            <a:r>
              <a:t>多变量 DTW（允许时间伸缩对齐）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599805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defRPr sz="2000" b="1"/>
            </a:pPr>
            <a:r>
              <a:t>描述符模型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9865" y="3256280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t>随机森林 RF（非线性，最强单模型）</a:t>
            </a:r>
            <a:br/>
            <a:r>
              <a:t>多项逻辑回归（线性可分性检验）</a:t>
            </a:r>
            <a:br/>
            <a:r>
              <a:t>MHD + RF 概率融合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997383" y="3678555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随机森林 RF（非线性，最强单模型）</a:t>
            </a:r>
            <a:br/>
            <a:r>
              <a:t>多项逻辑回归（线性可分性检验）</a:t>
            </a:r>
            <a:br/>
            <a:r>
              <a:t>MHD + RF 概率融合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7g.png"/>
          <p:cNvPicPr>
            <a:picLocks noChangeAspect="1"/>
          </p:cNvPicPr>
          <p:nvPr/>
        </p:nvPicPr>
        <p:blipFill>
          <a:blip r:embed="rId2">
            <a:alphaModFix amt="40000"/>
          </a:blip>
          <a:srcRect t="12164" b="6895"/>
          <a:stretch>
            <a:fillRect/>
          </a:stretch>
        </p:blipFill>
        <p:spPr>
          <a:xfrm>
            <a:off x="1151255" y="0"/>
            <a:ext cx="361505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defRPr sz="2800" b="1">
                <a:solidFill>
                  <a:srgbClr val="0D0D0D"/>
                </a:solidFill>
              </a:defRPr>
            </a:pPr>
            <a:r>
              <a:t>嵌套分组交叉验证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defRPr sz="2000" b="1"/>
            </a:pPr>
            <a:r>
              <a:t>外层验证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3521075" y="1721485"/>
            <a:ext cx="6654165" cy="3721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初步分析：快速语义推断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基于关键帧与Motion Tokens进行快速语义推断，建立初步认知框架。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defRPr sz="2000" b="1"/>
            </a:pPr>
            <a:r>
              <a:t>内层选择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2105025" y="3331845"/>
            <a:ext cx="7706360" cy="376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t>参数 N(36/48/96) wv(0/0.1/0.25/0.5)</a:t>
            </a:r>
            <a:br/>
            <a:r>
              <a:t>K(1/3/5/7/9) α(0.25/0.5/0.75)</a:t>
            </a:r>
            <a:br/>
            <a:r>
              <a:t>只在外训练集内以 Balanced Accuracy 选择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参数 N(36/48/96) wv(0/0.1/0.25/0.5)</a:t>
            </a:r>
            <a:br/>
            <a:r>
              <a:t>K(1/3/5/7/9) α(0.25/0.5/0.75)</a:t>
            </a:r>
            <a:br/>
            <a:r>
              <a:t>只在外训练集内以 Balanced Accuracy 选择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defRPr sz="2000" b="1"/>
            </a:pPr>
            <a:r>
              <a:t>统计检验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3408045" y="4942205"/>
            <a:ext cx="6570345" cy="334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t>参数 N(36/48/96) wv(0/0.1/0.25/0.5)</a:t>
            </a:r>
            <a:br/>
            <a:r>
              <a:t>K(1/3/5/7/9) α(0.25/0.5/0.75)</a:t>
            </a:r>
            <a:br/>
            <a:r>
              <a:t>只在外训练集内以 Balanced Accuracy 选择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Bootstrap 95% CI / McNemar-Holm</a:t>
            </a:r>
            <a:br/>
            <a:r>
              <a:t>Permutation Test / Pair AUC</a:t>
            </a:r>
            <a:br/>
            <a:r>
              <a:t>五组随机种子重复验证排序稳定性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920" y="1608455"/>
            <a:ext cx="4345940" cy="5486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52170" y="1616710"/>
            <a:ext cx="43459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532130"/>
            <a:ext cx="1096645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defRPr sz="2800" b="1">
                <a:solidFill>
                  <a:srgbClr val="0D0D0D"/>
                </a:solidFill>
              </a:defRPr>
            </a:pPr>
            <a:r>
              <a:t>实验结果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075" y="4005580"/>
            <a:ext cx="4345940" cy="54864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49325" y="4013835"/>
            <a:ext cx="4345940" cy="54864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Shape 3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Shape 4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11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534015" y="876300"/>
            <a:ext cx="762000" cy="76200"/>
          </a:xfrm>
          <a:prstGeom prst="rect">
            <a:avLst/>
          </a:prstGeom>
        </p:spPr>
      </p:pic>
      <p:pic>
        <p:nvPicPr>
          <p:cNvPr id="12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534015" y="1007110"/>
            <a:ext cx="762000" cy="762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252855" y="1716405"/>
            <a:ext cx="3642995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t>MHD 40.8% / RF 55.6% / 融合 54.0%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890270" y="2234565"/>
            <a:ext cx="4496435" cy="170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依据光流能量曲线定位关键时间节点，解决"何时发生"问题。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1350010" y="4113530"/>
            <a:ext cx="3642995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t>RF 显著优于 MHD（p&lt;0.0001）</a:t>
            </a:r>
            <a:br/>
            <a:r>
              <a:t>融合 ≈ RF（p=0.3222，不显著）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90270" y="4641850"/>
            <a:ext cx="4496435" cy="1805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RF 显著优于 MHD（p&lt;0.0001）</a:t>
            </a:r>
            <a:br/>
            <a:r>
              <a:t>融合 ≈ RF（p=0.3222，不显著）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7312025" y="1736090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t>类内 MHD 0.3196 &lt; 类间 0.3487</a:t>
            </a:r>
            <a:br/>
            <a:r>
              <a:t>差值 0.0292（p=0.0001）但 AUC=0.5645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6835775" y="2232025"/>
            <a:ext cx="4496435" cy="170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类内 MHD 0.3196 &lt; 类间 0.3487</a:t>
            </a:r>
            <a:br/>
            <a:r>
              <a:t>差值 0.0292（p=0.0001）但 AUC=0.5645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7409180" y="4133215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t>力度有用（wv=0.5）</a:t>
            </a:r>
            <a:br/>
            <a:r>
              <a:t>48 点优于 96 点</a:t>
            </a:r>
            <a:br/>
            <a:r>
              <a:t>节奏组最重要（消融下降 4.8pp）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835775" y="4639310"/>
            <a:ext cx="4496435" cy="1805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力度有用（wv=0.5）</a:t>
            </a:r>
            <a:br/>
            <a:r>
              <a:t>48 点优于 96 点</a:t>
            </a:r>
            <a:br/>
            <a:r>
              <a:t>节奏组最重要（消融下降 4.8pp）</a:t>
            </a:r>
            <a:endParaRPr lang="en-US" sz="1600" dirty="0"/>
          </a:p>
        </p:txBody>
      </p:sp>
      <p:pic>
        <p:nvPicPr>
          <p:cNvPr id="21" name="Picture 20" descr="model_comparison_c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00400"/>
            <a:ext cx="10972800" cy="653892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11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35762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0D0D0D"/>
                </a:solidFill>
              </a:defRPr>
            </a:pPr>
            <a:r>
              <a:t>模型对比总结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9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0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2265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05510" y="32721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t>Hausdorff 能区分曲风但不足够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63345" y="36944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Hausdorff 能区分曲风但不足够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416925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353810" y="32721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t>MHD 40.8% vs 随机 20%（p&lt;0.0001）有效但分布重叠大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811645" y="36944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Hausdorff 能区分曲风但不足够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5175"/>
            <a:ext cx="6884670" cy="2221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1535" y="1725930"/>
            <a:ext cx="813752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闭环迭代：类人化的主动自省推理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733790" y="2357755"/>
            <a:ext cx="5222875" cy="5099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9485" y="3461385"/>
            <a:ext cx="5620385" cy="461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观-思-答闭环：多次迭代逼近正确答案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58850" y="4014470"/>
            <a:ext cx="5621020" cy="1736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Hausdorff 距离提供可解释的旋律形状相似性，</a:t>
            </a:r>
            <a:br/>
            <a:r>
              <a:t>适合作为多特征系统的辅助证据，</a:t>
            </a:r>
            <a:br/>
            <a:r>
              <a:t>而非单独追求最高分类精度。</a:t>
            </a:r>
            <a:br/>
            <a:r>
              <a:t>最终结论：有效，但有限。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物理约束训练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1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38000"/>
          </a:blip>
          <a:srcRect l="3" t="17538" r="35681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多维奖励函数：从准确性到物理一致性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2270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准确性奖励：答对了吗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95935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衡量答案正确与否，构成模型优化的基础约束信号。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261995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格式奖励：规范思维链结构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329305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确保思维链与答案标签规范生成，鼓励结构化推理表达。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285865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物理一致性奖励：核心创新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273800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t>MHD 40.8% &gt; 随机 20%</a:t>
            </a:r>
            <a:br/>
            <a:r>
              <a:t>同类距离显著小于异类（p=0.0001）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217660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效率奖励：精准调用工具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284970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避免同一时段重复调用，优化工具使用效率与推理成本。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731520" y="4208780"/>
            <a:ext cx="10409555" cy="2445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t>AUC=0.5645，分布高度重叠</a:t>
            </a:r>
            <a:br/>
            <a:r>
              <a:t>不能单独做高精度分类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运动一致性奖励采用关键词匹配方案，优点是计算简单、训练稳定，能有效引导模型关注物理运动维度。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后续可升级为光流真值直接对齐的连续奖励函数，让模型输出的运动方向和真实运动场实现数值级匹配。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这是最重要的物理先验增强方向。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/>
          <a:srcRect t="104" b="104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t>感谢聆听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张敬粲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240270" y="6099810"/>
            <a:ext cx="3091815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/13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pic>
        <p:nvPicPr>
          <p:cNvPr id="15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7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263.65,&quot;left&quot;:114.65,&quot;top&quot;:179.7,&quot;width&quot;:741.1}"/>
</p:tagLst>
</file>

<file path=ppt/tags/tag2.xml><?xml version="1.0" encoding="utf-8"?>
<p:tagLst xmlns:p="http://schemas.openxmlformats.org/presentationml/2006/main">
  <p:tag name="KSO_WM_DIAGRAM_VIRTUALLY_FRAME" val="{&quot;height&quot;:263.65,&quot;left&quot;:114.65,&quot;top&quot;:179.7,&quot;width&quot;:741.1}"/>
</p:tagLst>
</file>

<file path=ppt/tags/tag3.xml><?xml version="1.0" encoding="utf-8"?>
<p:tagLst xmlns:p="http://schemas.openxmlformats.org/presentationml/2006/main">
  <p:tag name="KSO_WM_DIAGRAM_VIRTUALLY_FRAME" val="{&quot;height&quot;:263.65,&quot;left&quot;:114.65,&quot;top&quot;:179.7,&quot;width&quot;:741.1}"/>
</p:tagLst>
</file>

<file path=ppt/tags/tag4.xml><?xml version="1.0" encoding="utf-8"?>
<p:tagLst xmlns:p="http://schemas.openxmlformats.org/presentationml/2006/main">
  <p:tag name="KSO_WM_DIAGRAM_VIRTUALLY_FRAME" val="{&quot;height&quot;:263.65,&quot;left&quot;:114.65,&quot;top&quot;:179.7,&quot;width&quot;:741.1}"/>
</p:tagLst>
</file>

<file path=ppt/tags/tag5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6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8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9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0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1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2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3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4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5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6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WPS 演示</Application>
  <PresentationFormat>On-screen Show (16:9)</PresentationFormat>
  <Paragraphs>193</Paragraphs>
  <Slides>16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Video-R1-Flow：让视频AI学会"回头看"</dc:title>
  <dc:creator>Kimi</dc:creator>
  <dc:subject>Video-R1-Flow：让视频AI学会"回头看"</dc:subject>
  <cp:lastModifiedBy>DDdd</cp:lastModifiedBy>
  <cp:revision>3</cp:revision>
  <dcterms:created xsi:type="dcterms:W3CDTF">2026-05-12T14:05:00Z</dcterms:created>
  <dcterms:modified xsi:type="dcterms:W3CDTF">2026-06-05T03:48:07Z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ideo-R1-Flow：让视频AI学会\"回头看\"","ContentProducer":"001191110108MACG2KBH8F10000","ProduceID":"19e1c7f1-7e22-8357-8000-0000b7924178","ReservedCode1":"","ContentPropagator":"001191110108MACG2KBH8F20000","PropagateID":"19e1c7f1-7e22-8357-8000-0000b7924178","ReservedCode2":""}</vt:lpwstr>
  </property>
  <property fmtid="{D5CDD505-2E9C-101B-9397-08002B2CF9AE}" pid="3" name="ICV">
    <vt:lpwstr>B2D2F862EDDC43BBA7CB68957A015B85_12</vt:lpwstr>
  </property>
  <property fmtid="{D5CDD505-2E9C-101B-9397-08002B2CF9AE}" pid="4" name="KSOProductBuildVer">
    <vt:lpwstr>2052-12.1.0.21915</vt:lpwstr>
  </property>
</Properties>
</file>