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>
                <a:solidFill>
                  <a:srgbClr val="FFFFFF"/>
                </a:solidFill>
              </a:defRPr>
            </a:pPr>
            <a:r>
              <a:t>基于稳健 Hausdorff 距离与多特征融合的</a:t>
            </a:r>
          </a:p>
          <a:p>
            <a:pPr algn="ctr">
              <a:spcAft>
                <a:spcPts val="400"/>
              </a:spcAft>
              <a:defRPr sz="3600" b="1">
                <a:solidFill>
                  <a:srgbClr val="FFFFFF"/>
                </a:solidFill>
              </a:defRPr>
            </a:pPr>
            <a:r>
              <a:t>音乐旋律线几何建模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200" b="0">
                <a:solidFill>
                  <a:srgbClr val="CCDDFF"/>
                </a:solidFill>
              </a:defRPr>
            </a:pPr>
            <a:r>
              <a:t>——从三维曲线相似性到可信曲风区分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0">
                <a:solidFill>
                  <a:srgbClr val="FFFFFF"/>
                </a:solidFill>
              </a:defRPr>
            </a:pPr>
            <a:r>
              <a:t>数学建模课程大作业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一、数据处理：MIDI 文件格式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333333"/>
                </a:solidFill>
              </a:defRPr>
            </a:pPr>
            <a:r>
              <a:t>MIDI ≠ 音频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.wav / .mp3 存声波采样 → 直接播放声音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.mid 存演奏指令 → 电脑读谱后调用音源发声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2200" b="1">
                <a:solidFill>
                  <a:srgbClr val="333333"/>
                </a:solidFill>
              </a:defRPr>
            </a:pPr>
            <a:r>
              <a:t>核心事件：Note On（按键信息）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时间 τ：什么时候按下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音高 pitch（0-127）：每差 1 = 一个半音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力度 velocity（0-127）：越重越响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2200" b="1">
                <a:solidFill>
                  <a:srgbClr val="333333"/>
                </a:solidFill>
              </a:defRPr>
            </a:pPr>
            <a:r>
              <a:t>同一时刻可以有多个音符（和弦）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如 C4(60) + E4(64) + G4(67) 同时响 → 需要提取主旋律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一、数据处理：旋律提取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333333"/>
                </a:solidFill>
              </a:defRPr>
            </a:pPr>
            <a:r>
              <a:t>Step 1: Skyline — 取最高音近似主旋律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同一时刻有多个音时，取音高最高的那个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公式：(p_τ, v_τ) = argmax(p,v)∈C_τ (p, v)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333333"/>
                </a:solidFill>
              </a:defRPr>
            </a:pPr>
            <a:r>
              <a:t>Step 2: 时间相位归一化 + 均匀采样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首末音对齐：t_i = (τ_i - τ_min) / (τ_max - τ_min) ∈ [0,1]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均匀取 N 个点，分段线性插值（论文 N=36/48/96）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333333"/>
                </a:solidFill>
              </a:defRPr>
            </a:pPr>
            <a:r>
              <a:t>Step 3: 构建三维曲线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x_i = (t_i, (p_i - median(p)) / 12, w_v · (v_i - 64) / 32)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音高减中位数 → 移调不变；力度加权重 w_v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333333"/>
                </a:solidFill>
              </a:defRPr>
            </a:pPr>
            <a:r>
              <a:t>→ 每首歌变成一个 N×3 的三维点集</a:t>
            </a:r>
          </a:p>
        </p:txBody>
      </p:sp>
      <p:pic>
        <p:nvPicPr>
          <p:cNvPr id="5" name="Picture 4" descr="example_curves_c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8895" y="1188720"/>
            <a:ext cx="5135245" cy="30346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2147483647"/>
            <a:ext cx="9144000" cy="214701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666666"/>
                </a:solidFill>
              </a:defRPr>
            </a:pPr>
            <a:r>
              <a:t>五类曲风的标准化三维旋律线示例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一、数据处理：样本选择与防泄漏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333333"/>
                </a:solidFill>
              </a:defRPr>
            </a:pPr>
            <a:r>
              <a:t>问题：同一首歌有多个版本 → 虚高精度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如 Song.mid 在训练集，Song(remaster).mid 在测试集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333333"/>
                </a:solidFill>
              </a:defRPr>
            </a:pPr>
            <a:r>
              <a:t>三重指纹去重（并集连通组）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① 规范化曲名：去 live/remaster/version/take 后缀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② SHA-256：字节完全相同的复制文件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③ 旋律指纹：skyline → 归一化 → 哈希 → 移调不变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333333"/>
                </a:solidFill>
              </a:defRPr>
            </a:pPr>
            <a:r>
              <a:t>跨曲风冲突排除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若一个组跨多个曲风（如同时出现在 Classical 和 Jazz）→ 整组剔除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75 个冲突组，187 个文件被排除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333333"/>
                </a:solidFill>
              </a:defRPr>
            </a:pPr>
            <a:r>
              <a:t>最终样本：五类各 100 首，共 500 首独立作品</a:t>
            </a:r>
          </a:p>
        </p:txBody>
      </p:sp>
      <p:pic>
        <p:nvPicPr>
          <p:cNvPr id="5" name="Picture 4" descr="data_funnel_c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6615" y="1283335"/>
            <a:ext cx="4121785" cy="21456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2147483647"/>
            <a:ext cx="9144000" cy="214701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666666"/>
                </a:solidFill>
              </a:defRPr>
            </a:pPr>
            <a:r>
              <a:t>数据筛选漏斗：5317 → 500 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二、Hausdorff 距离及其变体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333333"/>
                </a:solidFill>
              </a:defRPr>
            </a:pPr>
            <a:r>
              <a:t>有向 Hausdorff 距离：h(A,B) = max_{a∈A} min_{b∈B} ||a-b||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A 的每个点找 B 里最近的点，取这些距离的最大值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含义："A 最不像 B 的那个点离 B 有多远"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333333"/>
                </a:solidFill>
              </a:defRPr>
            </a:pPr>
            <a:r>
              <a:t>双向 Hausdorff 距离：H(A,B) = max{h(A,B), h(B,A)}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两个方向各算一次，取最大值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值越大 → 曲线几何差异越大；值越小 → 越相似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333333"/>
                </a:solidFill>
              </a:defRPr>
            </a:pPr>
            <a:r>
              <a:t>三种变体对比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max-HD：取最近距离的 max → 最坏点主导，对离群点极其敏感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Q95-HD：取 95% 分位数 → 去掉最极端的 5%，更稳健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MHD：取平均值 → 最稳健，论文的主要几何模型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二、max-Hausdorff 的离群点问题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333333"/>
                </a:solidFill>
              </a:defRPr>
            </a:pPr>
            <a:r>
              <a:t>一个离群点就能拉爆整个距离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max-HD 由"最不相似"的那一对决定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一段旋律中一个装饰音或转录错误就会主导结果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333333"/>
                </a:solidFill>
              </a:defRPr>
            </a:pPr>
            <a:r>
              <a:t>合成实验（右图）：正弦旋律上只扰动一个点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max-HD：随扰动幅度线性上升 ← 一个音就带偏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Q95-HD：几乎不变 ← 去掉极端 5%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MHD：缓慢变化 ← 取平均，受单点影响最小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333333"/>
                </a:solidFill>
              </a:defRPr>
            </a:pPr>
            <a:r>
              <a:t>结论：对本题的旋律数据，必须用稳健变体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均值聚合（MHD）比最大值聚合更可靠</a:t>
            </a:r>
          </a:p>
        </p:txBody>
      </p:sp>
      <p:pic>
        <p:nvPicPr>
          <p:cNvPr id="5" name="Picture 4" descr="synthetic_robustness_c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1580515"/>
            <a:ext cx="5488305" cy="30829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2147483647"/>
            <a:ext cx="9144000" cy="214701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666666"/>
                </a:solidFill>
              </a:defRPr>
            </a:pPr>
            <a:r>
              <a:t>单点离群扰动下三种 Hausdorff 的响应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三、模型体系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A3C6E"/>
                </a:solidFill>
              </a:defRPr>
            </a:pPr>
            <a:r>
              <a:t>几何模型（距离度量）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多参数 MHD + K-NN ← 主几何模型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嵌套选择 N, wv, K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相位对齐 RMSE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严格逐点对应，零时间扭曲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多变量 DTW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允许时间轴伸缩对齐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05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59D9B"/>
                </a:solidFill>
              </a:defRPr>
            </a:pPr>
            <a:r>
              <a:t>描述符模型（统计特征）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逻辑回归 ← 线性可分性检验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随机森林 ← 非线性描述符，最强单模型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概率融合（MHD + RF）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p_fusion = α·p_RF + (1-α)·p_MHD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检验几何与描述符是否互补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55 维可解释描述符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节奏 / 力度动态 / 音级直方图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音程轮廓 / 自相关 / 音高熵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三、实验设计：嵌套分组交叉验证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333333"/>
                </a:solidFill>
              </a:defRPr>
            </a:pPr>
            <a:r>
              <a:t>验证框架（重点！防数据泄漏）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外层：Stratified Group 5-Fold（分层+分组）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内层：只在外训练集内，3 种子 × 3-fold 选择参数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外层测试折只评估一次 → 不参与任何参数选择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333333"/>
                </a:solidFill>
              </a:defRPr>
            </a:pPr>
            <a:r>
              <a:t>参数搜索范围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N（重采样点数）：36 / 48 / 96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wv（力度权重）：0 / 0.1 / 0.25 / 0.5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K（K-NN 近邻数）：1 / 3 / 5 / 7 / 9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α（融合权重）：0.25 / 0.5 / 0.75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333333"/>
                </a:solidFill>
              </a:defRPr>
            </a:pPr>
            <a:r>
              <a:t>评估指标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Accuracy、Balanced Accuracy、Macro F1-Score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95% Bootstrap CI、McNemar-Holm 配对检验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三、统计检验体系（判断结果是否可靠）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333333"/>
                </a:solidFill>
              </a:defRPr>
            </a:pPr>
            <a:r>
              <a:t>Bootstrap 置信区间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在测试结果上有放回抽样 2000 次 → 精度波动范围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例：RF 55.6%（95% CI: 51.2%-60.0%）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含义：换一批类似数据，95% 概率落在此区间内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333333"/>
                </a:solidFill>
              </a:defRPr>
            </a:pPr>
            <a:r>
              <a:t>McNemar 配对检验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只看两模型有分歧的样本（b = A对B错, c = B对A错）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若 b&gt;&gt;c → A 显著更好；若 b≈c → 差异是随机波动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Holm 校正：多次比较时提高门槛，避免假阳性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结果：RF 显著优于 MHD (p&lt;0.0001)，RF vs 融合不显著 (p=0.3222)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333333"/>
                </a:solidFill>
              </a:defRPr>
            </a:pPr>
            <a:r>
              <a:t>Permutation Test（置换检验）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随机打乱曲风标签 9999 次 → 类间-类内差值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类内 MHD=0.3196，类间=0.3487，差值 0.0292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p=0.0001 → 有统计证据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333333"/>
                </a:solidFill>
              </a:defRPr>
            </a:pPr>
            <a:r>
              <a:t>Pair AUC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随机抽同类+异类各一对，同类距离更小的概率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0.5=随机，1.0=完美。论文结果：0.5645 → 信号弱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三、实验结果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97280"/>
          <a:ext cx="98755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645920"/>
                <a:gridCol w="2743200"/>
                <a:gridCol w="228600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准确率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95% 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模型角色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max-HD（逐曲 Min-Max）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27.6-35.0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原始基线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max-HD（相对音高 TPV）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30.8-38.4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三维最大值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Q95-HD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30.6-38.4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稳健分位数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固定 MHD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34.4-42.6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整体均值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多参数 MHD（嵌套）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36.8-45.0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主要几何模型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相位对齐 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20.4-27.0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严格顺序基线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多变量 DTW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31.2-39.0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局部时序对齐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逻辑回归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52.2%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48.0-56.6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线性描述符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随机森林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55.6%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51.2-60.0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非线性能力对照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MHD-RF 融合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54.0%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49.8-58.2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联合模型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686800" y="1097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59D9B"/>
                </a:solidFill>
              </a:defRPr>
            </a:pPr>
            <a:r>
              <a:t>基线：随机猜测 20.0%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333333"/>
                </a:solidFill>
              </a:defRPr>
            </a:pPr>
            <a:r>
              <a:t>关键对比：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21031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</a:defRPr>
            </a:pPr>
            <a:r>
              <a:t>MHD 40.8% &gt; max-HD 34.4%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</a:defRPr>
            </a:pPr>
            <a:r>
              <a:t>→ 均值聚合优于最大值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30175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</a:defRPr>
            </a:pPr>
            <a:r>
              <a:t>RF 55.6% &gt; MHD 40.8%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</a:defRPr>
            </a:pPr>
            <a:r>
              <a:t>→ 统计特征远强于几何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</a:defRPr>
            </a:pPr>
            <a:r>
              <a:t>(p &lt; 0.0001)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42062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</a:defRPr>
            </a:pPr>
            <a:r>
              <a:t>融合 54.0% ≈ RF 55.6%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</a:defRPr>
            </a:pPr>
            <a:r>
              <a:t>→ 不显著 (p = 0.3222)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三、关键发现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333333"/>
                </a:solidFill>
              </a:defRPr>
            </a:pPr>
            <a:r>
              <a:t>① Hausdorff 空间有弱区分信号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类内MHD 0.3196 vs 类间 0.3487，差值 0.0292（p=0.0001）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但 AUC=0.5645 → 分布高度重叠，单首曲子难以可靠区分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333333"/>
                </a:solidFill>
              </a:defRPr>
            </a:pPr>
            <a:r>
              <a:t>② 力度信息有用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五个外层折的内层选择均选了 wv=0.5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力度不是可随意删掉的附属维度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333333"/>
                </a:solidFill>
              </a:defRPr>
            </a:pPr>
            <a:r>
              <a:t>③ 不是越密越好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48 点优于 96 点 → 过密采样放大局部装饰差异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333333"/>
                </a:solidFill>
              </a:defRPr>
            </a:pPr>
            <a:r>
              <a:t>④ 融合有互补但不保证提升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MHD 能独立纠正部分 RF 错误 → 两模型不完全冗余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但线性加权不足以稳定利用这种互补 → p=0.3222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333333"/>
                </a:solidFill>
              </a:defRPr>
            </a:pPr>
            <a:r>
              <a:t>⑤ 五组重复分折排序一致：RF &gt; 融合 &gt; MHD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MHD: 41.12% ± 1.45%, RF: 56.24% ± 1.24%, 融合: 55.08% ± 1.06%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73152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4000" b="1">
                <a:solidFill>
                  <a:srgbClr val="FFFFFF"/>
                </a:solidFill>
              </a:defRPr>
            </a:pPr>
            <a:r>
              <a:t>结  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FFFFFF"/>
                </a:solidFill>
              </a:defRPr>
            </a:pPr>
            <a:r>
              <a:t>✅  Hausdorff 距离能区分曲风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468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CCDDFF"/>
                </a:solidFill>
              </a:defRPr>
            </a:pPr>
            <a:r>
              <a:t>     MHD 40.8% &gt; 随机 20%，p&lt;0.0001，有效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108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FFFFFF"/>
                </a:solidFill>
              </a:defRPr>
            </a:pPr>
            <a:r>
              <a:t>✅  有效，但有限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566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CCDDFF"/>
                </a:solidFill>
              </a:defRPr>
            </a:pPr>
            <a:r>
              <a:t>     AUC=0.5645，分布重叠大，不能单独做高精度分类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FFFFFF"/>
                </a:solidFill>
              </a:defRPr>
            </a:pPr>
            <a:r>
              <a:t>✅  统计特征比几何距离更强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663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CCDDFF"/>
                </a:solidFill>
              </a:defRPr>
            </a:pPr>
            <a:r>
              <a:t>     RF 55.6% 显著优于 MHD 40.8%（p&lt;0.0001）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FFFFFF"/>
                </a:solidFill>
              </a:defRPr>
            </a:pPr>
            <a:r>
              <a:t>💡  Hausdorff 适合做辅助证据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760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CCDDFF"/>
                </a:solidFill>
              </a:defRPr>
            </a:pPr>
            <a:r>
              <a:t>     可解释旋律形状差异，而非单独追求最高精度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943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AABBDD"/>
                </a:solidFill>
              </a:defRPr>
            </a:pPr>
            <a:r>
              <a:t>—— Hausdorff(1914) → Dubuisson &amp; Jain(1994) → 本项工作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3500</Words>
  <Application>WPS 演示</Application>
  <PresentationFormat>On-screen Show (4:3)</PresentationFormat>
  <Paragraphs>295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DDdd</cp:lastModifiedBy>
  <cp:revision>2</cp:revision>
  <dcterms:created xsi:type="dcterms:W3CDTF">2013-01-27T09:14:00Z</dcterms:created>
  <dcterms:modified xsi:type="dcterms:W3CDTF">2026-06-14T10:09:04Z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F5FE02A8E5F846C589F92B77F4A318F1_12</vt:lpwstr>
  </property>
  <property fmtid="{D5CDD505-2E9C-101B-9397-08002B2CF9AE}" pid="3" name="KSOProductBuildVer">
    <vt:lpwstr>2052-12.1.0.21915</vt:lpwstr>
  </property>
</Properties>
</file>