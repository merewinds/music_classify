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</p:sldIdLst>
  <p:sldSz cx="12192000" cy="6858000"/>
  <p:notesSz cx="6858000" cy="12192000"/>
  <p:embeddedFontLs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image" Target="../media/image8.png"/><Relationship Id="rId4" Type="http://schemas.openxmlformats.org/officeDocument/2006/relationships/tags" Target="../tags/tag6.xml"/><Relationship Id="rId3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jpeg"/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5-d3jn7j8s8jdo4os5dj40.jpg"/>
          <p:cNvPicPr>
            <a:picLocks noChangeAspect="1"/>
          </p:cNvPicPr>
          <p:nvPr/>
        </p:nvPicPr>
        <p:blipFill>
          <a:blip r:embed="rId2"/>
          <a:srcRect t="83" b="8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" y="1707515"/>
            <a:ext cx="4963160" cy="3327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626745" y="6134418"/>
            <a:ext cx="4345305" cy="220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张敬粲</a:t>
            </a:r>
            <a:endParaRPr lang="zh-CN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240270" y="6099810"/>
            <a:ext cx="309181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/13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 7"/>
          <p:cNvSpPr/>
          <p:nvPr/>
        </p:nvSpPr>
        <p:spPr>
          <a:xfrm>
            <a:off x="617220" y="2134235"/>
            <a:ext cx="7715885" cy="15278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Video-R1-Flow：让视频AI学会"回头看"</a:t>
            </a:r>
            <a:endParaRPr lang="en-US" sz="1600" dirty="0"/>
          </a:p>
        </p:txBody>
      </p:sp>
      <p:pic>
        <p:nvPicPr>
          <p:cNvPr id="12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1045210" y="1243965"/>
            <a:ext cx="1408430" cy="8001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>
              <a:lnSpc>
                <a:spcPct val="130000"/>
              </a:lnSpc>
            </a:pPr>
            <a:r>
              <a:rPr lang="en-US" sz="40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45210" y="2010410"/>
            <a:ext cx="2663190" cy="4329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5220" y="1988820"/>
            <a:ext cx="166497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459749" y="59762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59749" y="60732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59749" y="61701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9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0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24485" y="5488305"/>
            <a:ext cx="2170430" cy="56896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604932" y="88045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 8"/>
          <p:cNvSpPr/>
          <p:nvPr/>
        </p:nvSpPr>
        <p:spPr>
          <a:xfrm>
            <a:off x="4747260" y="1640840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655310" y="1835785"/>
            <a:ext cx="6013450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困局与破局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47260" y="2400935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655310" y="2599055"/>
            <a:ext cx="6014085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747260" y="3207385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5655310" y="3385820"/>
            <a:ext cx="6014085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智能体推理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747260" y="4014470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5655310" y="4184015"/>
            <a:ext cx="6014720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物理约束训练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747260" y="4791710"/>
            <a:ext cx="907415" cy="8020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655310" y="4989830"/>
            <a:ext cx="6012815" cy="30341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59595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价值与展望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困局与破局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0" y="2185670"/>
            <a:ext cx="11015345" cy="319278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318375" y="1027430"/>
            <a:ext cx="3193415" cy="55092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视频AI的核心挑战：语义理解有余，物理感知不足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6" name="Shape 2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Shape 3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9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1" name="Text 5"/>
          <p:cNvSpPr/>
          <p:nvPr>
            <p:custDataLst>
              <p:tags r:id="rId5"/>
            </p:custDataLst>
          </p:nvPr>
        </p:nvSpPr>
        <p:spPr>
          <a:xfrm>
            <a:off x="1456055" y="2282190"/>
            <a:ext cx="426656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语义与物理割裂，长视频推理被动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6"/>
            </p:custDataLst>
          </p:nvPr>
        </p:nvSpPr>
        <p:spPr>
          <a:xfrm>
            <a:off x="1456055" y="2667635"/>
            <a:ext cx="3596640" cy="29629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当前多模态模型在视频理解中，普遍存在“语义强、物理弱”的问题。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它们可以描述“发生了什么”，却不擅长判断“怎么动、何时动、向哪动”。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在长视频场景中，全量帧输入会带来上下文冗余和计算压力，关键运动片段反而容易被淹没。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更重要的是，模型通常是一次性生成答案，缺少对模糊片段进行回看和验证的能力。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7"/>
          <p:cNvSpPr/>
          <p:nvPr>
            <p:custDataLst>
              <p:tags r:id="rId7"/>
            </p:custDataLst>
          </p:nvPr>
        </p:nvSpPr>
        <p:spPr>
          <a:xfrm>
            <a:off x="7007860" y="2324100"/>
            <a:ext cx="3860165" cy="3435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典型场景：体育碰撞判定困境</a:t>
            </a:r>
            <a:endParaRPr lang="en-US" sz="1600" dirty="0"/>
          </a:p>
        </p:txBody>
      </p:sp>
      <p:sp>
        <p:nvSpPr>
          <p:cNvPr id="14" name="Text 8"/>
          <p:cNvSpPr/>
          <p:nvPr>
            <p:custDataLst>
              <p:tags r:id="rId8"/>
            </p:custDataLst>
          </p:nvPr>
        </p:nvSpPr>
        <p:spPr>
          <a:xfrm>
            <a:off x="7007860" y="2704465"/>
            <a:ext cx="3596640" cy="27654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以"哪两名球员碰撞"为例，模型可能知道“这里发生了碰撞”，但由于缺乏像素级运动证据，仍可能误判具体人物、位置和时序关系。</a:t>
            </a:r>
            <a:endParaRPr lang="zh-CN" alt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6298" y="657860"/>
            <a:ext cx="10479405" cy="830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"观-思-答"循环：从被动回答到主动推理</a:t>
            </a:r>
            <a:endParaRPr lang="en-US" sz="3600" dirty="0">
              <a:solidFill>
                <a:srgbClr val="0D0D0D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3" name="Image 0" descr="https://kimi-img.moonshot.cn/pub/slides/slides_tmpl/image/25-10-09-16:35:25-d3jn7j8s8jdo4os5dj2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275" r="275"/>
          <a:stretch>
            <a:fillRect/>
          </a:stretch>
        </p:blipFill>
        <p:spPr>
          <a:xfrm>
            <a:off x="679450" y="725805"/>
            <a:ext cx="688340" cy="69151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09-16:35:25-d3jn7j8s8jdo4os5dj3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75285" y="908050"/>
            <a:ext cx="1288415" cy="330200"/>
          </a:xfrm>
          <a:prstGeom prst="rect">
            <a:avLst/>
          </a:prstGeom>
        </p:spPr>
      </p:pic>
      <p:sp>
        <p:nvSpPr>
          <p:cNvPr id="11" name="Text 3"/>
          <p:cNvSpPr/>
          <p:nvPr>
            <p:custDataLst>
              <p:tags r:id="rId6"/>
            </p:custDataLst>
          </p:nvPr>
        </p:nvSpPr>
        <p:spPr>
          <a:xfrm>
            <a:off x="1592580" y="2386330"/>
            <a:ext cx="9007475" cy="2647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我们的目标，不是让模型只会“看懂视频”，而是让它学会“带着证据回答问题”。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为此，我们把视频理解拆成三个步骤：先看关键运动，再做推理判断，最后输出带证据的答案。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整个系统分为两阶段训练：SFT 阶段让模型学习 FlowAdapter 的光流特征提取与推理格式；GRPO 阶段通过多维奖励（准确率+格式+物理一致性）优化推理质量。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这就形成了一个更接近人类观看视频的“观-思-答”过程。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7"/>
          <p:cNvSpPr/>
          <p:nvPr>
            <p:custDataLst>
              <p:tags r:id="rId7"/>
            </p:custDataLst>
          </p:nvPr>
        </p:nvSpPr>
        <p:spPr>
          <a:xfrm>
            <a:off x="9433560" y="214566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1757045"/>
            <a:ext cx="12192000" cy="428688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031990" y="885190"/>
            <a:ext cx="4288155" cy="60312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四层架构：从视频输入到物理对齐输出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  <p:sp>
        <p:nvSpPr>
          <p:cNvPr id="7" name="Text 1"/>
          <p:cNvSpPr/>
          <p:nvPr>
            <p:custDataLst>
              <p:tags r:id="rId5"/>
            </p:custDataLst>
          </p:nvPr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输入层：接收原始视频与问题</a:t>
            </a:r>
            <a:endParaRPr lang="en-US" sz="1600" dirty="0"/>
          </a:p>
        </p:txBody>
      </p:sp>
      <p:sp>
        <p:nvSpPr>
          <p:cNvPr id="8" name="Text 2"/>
          <p:cNvSpPr/>
          <p:nvPr>
            <p:custDataLst>
              <p:tags r:id="rId6"/>
            </p:custDataLst>
          </p:nvPr>
        </p:nvSpPr>
        <p:spPr>
          <a:xfrm>
            <a:off x="581660" y="2487930"/>
            <a:ext cx="5175885" cy="148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接收长视频流与用户查询，作为系统处理的原始数据源。</a:t>
            </a:r>
            <a:endParaRPr lang="en-US" sz="1600" dirty="0"/>
          </a:p>
        </p:txBody>
      </p:sp>
      <p:sp>
        <p:nvSpPr>
          <p:cNvPr id="9" name="Text 3"/>
          <p:cNvSpPr/>
          <p:nvPr>
            <p:custDataLst>
              <p:tags r:id="rId7"/>
            </p:custDataLst>
          </p:nvPr>
        </p:nvSpPr>
        <p:spPr>
          <a:xfrm>
            <a:off x="581660" y="4140835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前置处理层：FlowAdapter 光流特征提取</a:t>
            </a:r>
            <a:endParaRPr lang="en-US" sz="1600" dirty="0"/>
          </a:p>
        </p:txBody>
      </p:sp>
      <p:sp>
        <p:nvSpPr>
          <p:cNvPr id="10" name="Text 4"/>
          <p:cNvSpPr/>
          <p:nvPr>
            <p:custDataLst>
              <p:tags r:id="rId8"/>
            </p:custDataLst>
          </p:nvPr>
        </p:nvSpPr>
        <p:spPr>
          <a:xfrm>
            <a:off x="581660" y="4496435"/>
            <a:ext cx="5175885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光流视频经 TGO 动态采样后，由 FlowAdapter 的 Patch Embedding 和 Cross-Attention 压缩为 Motion Token，与文本 Token 拼接后送入 Qwen2.5-VL。</a:t>
            </a:r>
            <a:endParaRPr lang="zh-CN" altLang="en-US" sz="1600" dirty="0"/>
          </a:p>
        </p:txBody>
      </p:sp>
      <p:sp>
        <p:nvSpPr>
          <p:cNvPr id="11" name="Text 5"/>
          <p:cNvSpPr/>
          <p:nvPr>
            <p:custDataLst>
              <p:tags r:id="rId9"/>
            </p:custDataLst>
          </p:nvPr>
        </p:nvSpPr>
        <p:spPr>
          <a:xfrm>
            <a:off x="6533515" y="2120900"/>
            <a:ext cx="5175250" cy="4019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大脑层：Qwen2.5-VL + FlowAdapter 联合推理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10"/>
            </p:custDataLst>
          </p:nvPr>
        </p:nvSpPr>
        <p:spPr>
          <a:xfrm>
            <a:off x="6533515" y="2487930"/>
            <a:ext cx="5176520" cy="14839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微调后的模型承担观察、思考、决策与回答的核心职能。</a:t>
            </a:r>
            <a:endParaRPr lang="en-US" sz="1600" dirty="0"/>
          </a:p>
        </p:txBody>
      </p:sp>
      <p:sp>
        <p:nvSpPr>
          <p:cNvPr id="13" name="Text 7"/>
          <p:cNvSpPr/>
          <p:nvPr>
            <p:custDataLst>
              <p:tags r:id="rId11"/>
            </p:custDataLst>
          </p:nvPr>
        </p:nvSpPr>
        <p:spPr>
          <a:xfrm>
            <a:off x="6533515" y="4140835"/>
            <a:ext cx="5175250" cy="4025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训练层：两阶段微调策略</a:t>
            </a:r>
            <a:endParaRPr lang="en-US" sz="1600" dirty="0"/>
          </a:p>
        </p:txBody>
      </p:sp>
      <p:sp>
        <p:nvSpPr>
          <p:cNvPr id="14" name="Text 8"/>
          <p:cNvSpPr/>
          <p:nvPr>
            <p:custDataLst>
              <p:tags r:id="rId12"/>
            </p:custDataLst>
          </p:nvPr>
        </p:nvSpPr>
        <p:spPr>
          <a:xfrm>
            <a:off x="6533515" y="4496435"/>
            <a:ext cx="5176520" cy="1763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SFT 阶段让模型学会基础推理格式，GRPO 阶段通过多维奖励优化推理质量与物理一致性。</a:t>
            </a:r>
            <a:endParaRPr lang="zh-CN" alt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智能体推理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830" y="7531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观察层：关键帧与运动token的融合输入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8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9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31770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71830" y="3256280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关键帧图像序列：滤除静止冗余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29348" y="3678555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接收经动态抽帧后的关键帧图像，剔除静止冗余内容，大幅降低模型视觉输入负担，同时保留核心运动场景。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599805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39865" y="3256280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Motion Tokens：FlowAdapter 光流特征注入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997383" y="3678555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光流视频经 FlowAdapter 的 Patch Embedding 和 Cross-Attention 压缩为 2 个 Motion Token（3584维），与文本 Token 拼接后送入 Qwen2.5-VL 的自注意力层，实现运动信息与语义推理的深度融合。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7g.png"/>
          <p:cNvPicPr>
            <a:picLocks noChangeAspect="1"/>
          </p:cNvPicPr>
          <p:nvPr/>
        </p:nvPicPr>
        <p:blipFill>
          <a:blip r:embed="rId2">
            <a:alphaModFix amt="40000"/>
          </a:blip>
          <a:srcRect t="12164" b="6895"/>
          <a:stretch>
            <a:fillRect/>
          </a:stretch>
        </p:blipFill>
        <p:spPr>
          <a:xfrm>
            <a:off x="1151255" y="0"/>
            <a:ext cx="361505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思考层：置信度评估与工具调用决策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1458595" y="1642110"/>
            <a:ext cx="688340" cy="69151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849630" y="3331845"/>
            <a:ext cx="688340" cy="69151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5-d3jn7j8s8jdo4os5dj2g.png"/>
          <p:cNvPicPr>
            <a:picLocks noChangeAspect="1"/>
          </p:cNvPicPr>
          <p:nvPr/>
        </p:nvPicPr>
        <p:blipFill>
          <a:blip r:embed="rId3"/>
          <a:srcRect l="275" r="275"/>
          <a:stretch>
            <a:fillRect/>
          </a:stretch>
        </p:blipFill>
        <p:spPr>
          <a:xfrm>
            <a:off x="1537970" y="5222875"/>
            <a:ext cx="688340" cy="69151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463040" y="173228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3521075" y="1721485"/>
            <a:ext cx="6654165" cy="3721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初步分析：快速语义推断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3521075" y="213614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基于关键帧与Motion Tokens进行快速语义推断，建立初步认知框架。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854710" y="3429000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2105025" y="3331845"/>
            <a:ext cx="7706360" cy="3765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置信度评估：阈值触发工具调用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2105025" y="3746500"/>
            <a:ext cx="7795260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为推断赋予信心值，低于0.7阈值即决定调用工具获取补充证据。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1543685" y="5325745"/>
            <a:ext cx="688975" cy="536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3408045" y="4942205"/>
            <a:ext cx="6570345" cy="334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工具决策：选择回溯或定位工具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3408045" y="5356860"/>
            <a:ext cx="7794625" cy="14763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自主选择时间定位器或细节回溯器，精准获取高分辨物理证据。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920" y="1608455"/>
            <a:ext cx="4345940" cy="54864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52170" y="1616710"/>
            <a:ext cx="4345940" cy="5486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532130"/>
            <a:ext cx="10966450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工具层：三类物理证据的精准获取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075" y="4005580"/>
            <a:ext cx="4345940" cy="54864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09-16:35:26-d3jn7jgs8jdo4os5dj5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49325" y="4013835"/>
            <a:ext cx="4345940" cy="54864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8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9" name="Shape 3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Shape 4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11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534015" y="876300"/>
            <a:ext cx="762000" cy="76200"/>
          </a:xfrm>
          <a:prstGeom prst="rect">
            <a:avLst/>
          </a:prstGeom>
        </p:spPr>
      </p:pic>
      <p:pic>
        <p:nvPicPr>
          <p:cNvPr id="12" name="Image 5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10534015" y="1007110"/>
            <a:ext cx="762000" cy="762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252855" y="1716405"/>
            <a:ext cx="3642995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时间定位器：锁定剧烈运动时刻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890270" y="2234565"/>
            <a:ext cx="4496435" cy="170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依据光流能量曲线定位关键时间节点，解决"何时发生"问题。</a:t>
            </a: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1350010" y="4113530"/>
            <a:ext cx="3642995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细节回溯器：提取高分辨物理特征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90270" y="4641850"/>
            <a:ext cx="4496435" cy="1805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获取局部加速度、方向场、速度向量等深层运动细节。</a:t>
            </a:r>
            <a:endParaRPr lang="en-US" sz="1600" dirty="0"/>
          </a:p>
        </p:txBody>
      </p:sp>
      <p:sp>
        <p:nvSpPr>
          <p:cNvPr id="17" name="Text 9"/>
          <p:cNvSpPr/>
          <p:nvPr/>
        </p:nvSpPr>
        <p:spPr>
          <a:xfrm>
            <a:off x="7312025" y="1736090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运动提取器：计算一致性指标</a:t>
            </a:r>
            <a:endParaRPr lang="en-US" sz="1600" dirty="0"/>
          </a:p>
        </p:txBody>
      </p:sp>
      <p:sp>
        <p:nvSpPr>
          <p:cNvPr id="18" name="Text 10"/>
          <p:cNvSpPr/>
          <p:nvPr/>
        </p:nvSpPr>
        <p:spPr>
          <a:xfrm>
            <a:off x="6835775" y="2232025"/>
            <a:ext cx="4496435" cy="17094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衡量当前运动与历史光流真值的相似度，验证逻辑自洽性。</a:t>
            </a:r>
            <a:endParaRPr lang="en-US" sz="1600" dirty="0"/>
          </a:p>
        </p:txBody>
      </p:sp>
      <p:sp>
        <p:nvSpPr>
          <p:cNvPr id="19" name="Text 11"/>
          <p:cNvSpPr/>
          <p:nvPr/>
        </p:nvSpPr>
        <p:spPr>
          <a:xfrm>
            <a:off x="7409180" y="4133215"/>
            <a:ext cx="3771900" cy="349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结果回注：格式化观察标签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835775" y="4639310"/>
            <a:ext cx="4496435" cy="18053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工具返回结果格式化为标准化标签，重新注入LLM上下文。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011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5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</p:sp>
      <p:sp>
        <p:nvSpPr>
          <p:cNvPr id="3" name="Shape 1"/>
          <p:cNvSpPr/>
          <p:nvPr/>
        </p:nvSpPr>
        <p:spPr>
          <a:xfrm>
            <a:off x="6357620" y="1675765"/>
            <a:ext cx="4953000" cy="44132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FFFFFF">
                  <a:alpha val="86000"/>
                </a:srgbClr>
              </a:gs>
              <a:gs pos="46000">
                <a:srgbClr val="EAEEF4">
                  <a:alpha val="0"/>
                </a:srgbClr>
              </a:gs>
              <a:gs pos="100000">
                <a:srgbClr val="EAEEF4">
                  <a:alpha val="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</p:sp>
      <p:sp>
        <p:nvSpPr>
          <p:cNvPr id="4" name="Text 2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回答层：语义结论与物理证据链的融合输出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9" name="Image 0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0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82265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05510" y="32721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双重维度答案：语义+物理证据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63345" y="36944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最终答案不仅直接回应问题本身，更附带速度矢量相交时刻、光流能量峰值帧、碰撞角度一致性等完整物理证据链，实现结论可解释、可验证。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416925" y="2368550"/>
            <a:ext cx="878205" cy="692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353810" y="3272155"/>
            <a:ext cx="4998085" cy="3854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典型输出结构：结论+三项证据枚举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811645" y="3694430"/>
            <a:ext cx="4083050" cy="21209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答案以"结论陈述+证据列表"结构呈现，用户可追溯每项判断的物理来源，超越黑箱预测，建立可信透明的视频理解范式。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05175"/>
            <a:ext cx="6884670" cy="2221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1535" y="1725930"/>
            <a:ext cx="813752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闭环迭代：类人化的主动自省推理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18625" y="6332855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1459845" y="6039485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459845" y="6136476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1459845" y="6233467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733790" y="2357755"/>
            <a:ext cx="5222875" cy="5099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9485" y="3461385"/>
            <a:ext cx="5620385" cy="4610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观-思-答闭环：多次迭代逼近正确答案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958850" y="4014470"/>
            <a:ext cx="5621020" cy="17360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观察关键帧后进入思考，低置信时调用工具获取高分辨证据，最终输出带完整因果链的结论。该过程与人类"看不清就倒回重看"的直觉行为高度一致，支持多次迭代调用工具，持续逼近正确答案，是Video-R1-Flow区别于传统被动生成模型的本质特征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56000"/>
          </a:blip>
          <a:stretch>
            <a:fillRect/>
          </a:stretch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09-16:35:24-d3jn7j0s8jdo4os5div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7505" y="3536315"/>
            <a:ext cx="6823710" cy="73660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7845" y="5898515"/>
            <a:ext cx="1703705" cy="37719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99889" y="2317433"/>
            <a:ext cx="1618942" cy="130770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5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3005773" y="3643630"/>
            <a:ext cx="6607175" cy="5219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34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物理约束训练</a:t>
            </a:r>
            <a:endParaRPr lang="en-US" sz="1600" dirty="0"/>
          </a:p>
        </p:txBody>
      </p:sp>
      <p:sp>
        <p:nvSpPr>
          <p:cNvPr id="7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11459749" y="603974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11459749" y="613671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1459749" y="623368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pic>
        <p:nvPicPr>
          <p:cNvPr id="11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630555"/>
            <a:ext cx="762000" cy="76200"/>
          </a:xfrm>
          <a:prstGeom prst="rect">
            <a:avLst/>
          </a:prstGeom>
        </p:spPr>
      </p:pic>
      <p:pic>
        <p:nvPicPr>
          <p:cNvPr id="12" name="Image 4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851535" y="76136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>
            <a:alphaModFix amt="38000"/>
          </a:blip>
          <a:srcRect l="3" t="17538" r="35681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dirty="0">
                <a:solidFill>
                  <a:srgbClr val="0D0D0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多维奖励函数：从准确性到物理一致性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9349740" y="6371590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11490960" y="6078220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11490960" y="6175211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11490960" y="6272202"/>
            <a:ext cx="209550" cy="42238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p/>
        </p:txBody>
      </p:sp>
      <p:pic>
        <p:nvPicPr>
          <p:cNvPr id="8" name="Image 1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669290"/>
            <a:ext cx="762000" cy="76200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flipV="1">
            <a:off x="882650" y="800100"/>
            <a:ext cx="762000" cy="76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2270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准确性奖励：答对了吗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95935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衡量答案正确与否，构成模型优化的基础约束信号。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261995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格式奖励：规范思维链结构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329305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确保思维链与答案标签规范生成，鼓励结构化推理表达。</a:t>
            </a:r>
            <a:endParaRPr lang="en-US" sz="1400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285865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物理一致性奖励：核心创新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273800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检测模型输出中是否包含 velocity/direction/gravity 等物理运动关键词，按问题类型（PHYSICAL/ACTION）加权计分。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9217660" y="2431415"/>
            <a:ext cx="2515235" cy="701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效率奖励：精准调用工具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284970" y="3046730"/>
            <a:ext cx="2461895" cy="27260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避免同一时段重复调用，优化工具使用效率与推理成本。</a:t>
            </a:r>
            <a:endParaRPr lang="en-US" sz="1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731520" y="4208780"/>
            <a:ext cx="10409555" cy="2445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当前版本 reward 函数（reward_functions.py）实现了四维评分：格式(30%) + 思考深度(20%) + 运动一致性(40%) + 类型匹配(10%)。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运动一致性奖励采用关键词匹配方案，优点是计算简单、训练稳定，能有效引导模型关注物理运动维度。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后续可升级为光流真值直接对齐的连续奖励函数，让模型输出的运动方向和真实运动场实现数值级匹配。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dirty="0">
                <a:solidFill>
                  <a:srgbClr val="262626"/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这是最重要的物理先验增强方向。</a:t>
            </a:r>
            <a:endParaRPr lang="en-US" dirty="0">
              <a:solidFill>
                <a:srgbClr val="26262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09-16:35:26-d3jn7jgs8jdo4os5dj50.jpg"/>
          <p:cNvPicPr>
            <a:picLocks noChangeAspect="1"/>
          </p:cNvPicPr>
          <p:nvPr/>
        </p:nvPicPr>
        <p:blipFill>
          <a:blip r:embed="rId2"/>
          <a:srcRect t="104" b="104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440940"/>
            <a:ext cx="7735570" cy="180467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626745" y="3177540"/>
            <a:ext cx="11033760" cy="89344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5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感谢您的观看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626745" y="2440305"/>
            <a:ext cx="9281795" cy="709295"/>
          </a:xfrm>
          <a:prstGeom prst="rect">
            <a:avLst/>
          </a:prstGeom>
          <a:noFill/>
        </p:spPr>
        <p:txBody>
          <a:bodyPr wrap="square" lIns="45720" tIns="91440" rIns="91440" bIns="45720" rtlCol="0" anchor="b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0439E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 FOR READING！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626745" y="6134418"/>
            <a:ext cx="4345305" cy="331470"/>
          </a:xfrm>
          <a:prstGeom prst="rect">
            <a:avLst/>
          </a:prstGeom>
          <a:noFill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汇报人：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张敬粲</a:t>
            </a:r>
            <a:endParaRPr lang="zh-CN" alt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240270" y="6099810"/>
            <a:ext cx="3091815" cy="3663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汇报日期：2025/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/13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381644" y="55969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381644" y="65666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381644" y="75363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2304972" y="6281738"/>
            <a:ext cx="5746750" cy="1905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15" name="Image 1" descr="https://kimi-img.moonshot.cn/pub/slides/slides_tmpl/image/25-10-09-16:35:24-d3jn7j0s8jdo4os5diu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0291445" y="5408930"/>
            <a:ext cx="2170430" cy="728980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534035"/>
            <a:ext cx="762000" cy="76200"/>
          </a:xfrm>
          <a:prstGeom prst="rect">
            <a:avLst/>
          </a:prstGeom>
        </p:spPr>
      </p:pic>
      <p:pic>
        <p:nvPicPr>
          <p:cNvPr id="17" name="Image 3" descr="https://kimi-img.moonshot.cn/pub/slides/slides_tmpl/image/25-10-09-16:35:24-d3jn7j0s8jdo4os5div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772795" y="664845"/>
            <a:ext cx="76200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263.65,&quot;left&quot;:114.65,&quot;top&quot;:179.7,&quot;width&quot;:741.1}"/>
</p:tagLst>
</file>

<file path=ppt/tags/tag2.xml><?xml version="1.0" encoding="utf-8"?>
<p:tagLst xmlns:p="http://schemas.openxmlformats.org/presentationml/2006/main">
  <p:tag name="KSO_WM_DIAGRAM_VIRTUALLY_FRAME" val="{&quot;height&quot;:263.65,&quot;left&quot;:114.65,&quot;top&quot;:179.7,&quot;width&quot;:741.1}"/>
</p:tagLst>
</file>

<file path=ppt/tags/tag3.xml><?xml version="1.0" encoding="utf-8"?>
<p:tagLst xmlns:p="http://schemas.openxmlformats.org/presentationml/2006/main">
  <p:tag name="KSO_WM_DIAGRAM_VIRTUALLY_FRAME" val="{&quot;height&quot;:263.65,&quot;left&quot;:114.65,&quot;top&quot;:179.7,&quot;width&quot;:741.1}"/>
</p:tagLst>
</file>

<file path=ppt/tags/tag4.xml><?xml version="1.0" encoding="utf-8"?>
<p:tagLst xmlns:p="http://schemas.openxmlformats.org/presentationml/2006/main">
  <p:tag name="KSO_WM_DIAGRAM_VIRTUALLY_FRAME" val="{&quot;height&quot;:263.65,&quot;left&quot;:114.65,&quot;top&quot;:179.7,&quot;width&quot;:741.1}"/>
</p:tagLst>
</file>

<file path=ppt/tags/tag5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6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7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8.xml><?xml version="1.0" encoding="utf-8"?>
<p:tagLst xmlns:p="http://schemas.openxmlformats.org/presentationml/2006/main">
  <p:tag name="KSO_WM_DIAGRAM_VIRTUALLY_FRAME" val="{&quot;height&quot;:336,&quot;left&quot;:86.45,&quot;top&quot;:161.4,&quot;width&quot;:793.8}"/>
</p:tagLst>
</file>

<file path=ppt/tags/tag9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0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1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2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3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4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5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ags/tag16.xml><?xml version="1.0" encoding="utf-8"?>
<p:tagLst xmlns:p="http://schemas.openxmlformats.org/presentationml/2006/main">
  <p:tag name="KSO_WM_DIAGRAM_VIRTUALLY_FRAME" val="{&quot;height&quot;:325.9,&quot;left&quot;:45.8,&quot;top&quot;:167,&quot;width&quot;:876.2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2249</Words>
  <Application>WPS 演示</Application>
  <PresentationFormat>On-screen Show (16:9)</PresentationFormat>
  <Paragraphs>193</Paragraphs>
  <Slides>16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Video-R1-Flow：让视频AI学会"回头看"</dc:title>
  <dc:creator>Kimi</dc:creator>
  <dc:subject>Video-R1-Flow：让视频AI学会"回头看"</dc:subject>
  <cp:lastModifiedBy>DDdd</cp:lastModifiedBy>
  <cp:revision>3</cp:revision>
  <dcterms:created xsi:type="dcterms:W3CDTF">2026-05-12T14:05:00Z</dcterms:created>
  <dcterms:modified xsi:type="dcterms:W3CDTF">2026-06-05T03:48:07Z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Video-R1-Flow：让视频AI学会\"回头看\"","ContentProducer":"001191110108MACG2KBH8F10000","ProduceID":"19e1c7f1-7e22-8357-8000-0000b7924178","ReservedCode1":"","ContentPropagator":"001191110108MACG2KBH8F20000","PropagateID":"19e1c7f1-7e22-8357-8000-0000b7924178","ReservedCode2":""}</vt:lpwstr>
  </property>
  <property fmtid="{D5CDD505-2E9C-101B-9397-08002B2CF9AE}" pid="3" name="ICV">
    <vt:lpwstr>B2D2F862EDDC43BBA7CB68957A015B85_12</vt:lpwstr>
  </property>
  <property fmtid="{D5CDD505-2E9C-101B-9397-08002B2CF9AE}" pid="4" name="KSOProductBuildVer">
    <vt:lpwstr>2052-12.1.0.21915</vt:lpwstr>
  </property>
</Properties>
</file>